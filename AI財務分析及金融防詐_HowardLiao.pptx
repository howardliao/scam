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AI 金融進階與全維度防詐工程論</a:t>
            </a:r>
          </a:p>
          <a:p>
            <a:pPr>
              <a:spcBef>
                <a:spcPts val="1200"/>
              </a:spcBef>
              <a:defRPr sz="1800" b="1">
                <a:solidFill>
                  <a:srgbClr val="F59E0B"/>
                </a:solidFill>
              </a:defRPr>
            </a:pPr>
            <a:r>
              <a:t>AI時代的智慧家庭財務工程、認知心理防禦與零信任安全架構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從生態系統理論、UNSGSA 普惠財務健康標準，到 165 反詐攻防與 Prompt Engineering 實戰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8755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9509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報告人：Howard Liao Ph.D. (廖倫豪 博士)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Forward-Deployed AI Architect &amp; Player-Coach C-Level Executive (CIO / CISO / CDAIO)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• 專長：企業級生成式 AI 佈署、高階認知資安防禦、零信任治理體系、家庭與個人財務工程架構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全篇戰略地圖與五大核心模組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0574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模組 01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普惠金融健康與生態理論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UNSGSA 普惠四大支柱、生態系統理論映射、家庭財務焦慮根源解構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63040"/>
            <a:ext cx="20574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模組 02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四層理財金字塔與預算工程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基礎/防禦/成長/加值層、5W1H 預算分類、橫山光昭浪費錢包機制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20574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模組 03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AI 賦能金融分析實戰庫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AI 做為第二智囊而非投資老師、4 大高階結構化 Prompt 提示詞庫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1463040"/>
            <a:ext cx="20574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59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模組 04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認知偏誤防禦與商品識讀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5 大偏誤防禦協議、金融商品風險收益光譜對照表、事實與意見辨析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63040"/>
            <a:ext cx="20574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64592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模組 05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現代金融反詐攻防與實戰模擬</a:t>
            </a:r>
          </a:p>
          <a:p>
            <a:pPr>
              <a:spcBef>
                <a:spcPts val="1200"/>
              </a:spcBef>
              <a:defRPr sz="950">
                <a:solidFill>
                  <a:srgbClr val="94A3B8"/>
                </a:solidFill>
              </a:defRPr>
            </a:pPr>
            <a:r>
              <a:t>165 數據透視、七千萬二胎房貸案例、STOP 阻斷協議與情境題庫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SPEAKER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報告人背景脈絡與生態系統架構視角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Howard Liao Ph.D. (廖倫豪 博士)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上市櫃數位科技與娛樂集團 CIO/CISO/CDAIO • 盛欣網絡 VP</a:t>
            </a:r>
            <a:br/>
            <a:r>
              <a:t>Forward-Deployed AI Architect &amp; Player-Coach C-Level Executive</a:t>
            </a:r>
          </a:p>
          <a:p>
            <a:pPr>
              <a:spcBef>
                <a:spcPts val="1000"/>
              </a:spcBef>
              <a:defRPr sz="1000">
                <a:solidFill>
                  <a:srgbClr val="F8FAFC"/>
                </a:solidFill>
              </a:defRPr>
            </a:pPr>
            <a:r>
              <a:t>• 專業履歷：深耕大型高科技與數位娛樂集團資訊架構、資安合規、AI 自動化系統佈署與工程落地。</a:t>
            </a:r>
            <a:br/>
            <a:r>
              <a:t>• 實戰心法：堅定貫徹「零信任 (Zero-Trust)」防禦、端到端實體驗證與客觀數據驅動。</a:t>
            </a:r>
            <a:br/>
            <a:r>
              <a:t>• 財務治理哲學：財務管理不是為了短期致富，而是為了建立抵禦黑天鵝事件的「家庭生活選擇權」與「抗風險護城河」。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035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生態系統理論 (Ecosystem Theory) 的財務映射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▶ 微觀層次 (Micro)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個人的財商知能、認知偏誤盲點、心理慾望控制與衝動管理能力。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▶ 中觀層次 (Meso)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家庭扶養結構、長輩長照醫療需求、子女教育金與親屬支持網絡。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▶ 外觀層次 (Exo)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職場就業穩定度、產業科技變革衝擊（AI 自動化/中高齡轉型）。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▶ 鉅觀層次 (Macro)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總體通膨利率環境、金融詐騙新型態深偽攻擊、法規監管與社會保險。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01 • 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UNSGSA 普惠金融健康標準與財務焦慮解構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6032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01 日常收支平衡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【收支結餘 &gt; 0】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月/年收入大於支出，無須依賴高利信貸或循環利息維生，現金流自主可控。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02 流動儲備韌性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【3~6 個月預備金】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建立不可動用的高流動性應急資金池，能抵禦失業、生病或突發意外打擊。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03 跨期長期規劃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【複利與資產配置】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清晰的退休、置產、長照與教育金累積藍圖，透過指數化工具穩健增長。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04 財務安全感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【防詐與知情主權】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對家庭資產具備透徹掌控度，免於金融詐騙恐慌與不實話術誘導，享有生活尊嚴。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69848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💡 為什麼現代人普遍面臨「財務焦慮」？（報稅季、通膨加劇、老後擔憂）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焦慮的根源並非「賺得不夠多」，而是「金流黑洞看不見」與「對未來缺乏結構化模型」。</a:t>
            </a:r>
            <a:br/>
            <a:r>
              <a:t>• 當家庭面臨通膨或突發支出時，若缺乏分層防禦金字塔，往往會被迫採取非理性的激進投機行為（如當沖、民間借貸），進而落入詐騙集團圈套。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02 • BUDGETING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家庭預算五大面向與 5W1H 結構化解碼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家庭財務五大核心維度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■ 人 (People)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家庭成員數、撫養人口、長輩長照責任、子女教育週期與扶養比率。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■ 事 (Events)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年度固定稅費、醫療回診支出、保單續期繳納、重大人生晉升或轉職。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■ 時 (Horizon)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短期 (1年內應急)、中期 (3~5年購屋/進修)、長期 (10~30年退休安養)。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■ 地 (Place)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自住 vs 租賃成本、跨區通勤油資大眾運輸、居家安養與修繕準備。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■ 物 (Assets)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自住房產持份、車輛折舊維護、流動性金融資產與非流動性不動產。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580C"/>
                </a:solidFill>
              </a:defRPr>
            </a:pPr>
            <a:r>
              <a:t>5W1H 財務行動工程清單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▶ Who (誰來執行)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家庭成員全員參與，釐清各角色之財務知情權與決策責任。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▶ What (盤點標的)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全盤審計固定支出、浮動開銷、有效保單與負債利率清單。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▶ When (執行週期)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每月 1 次現金流審計、每季 1 次股債再平衡、每年 1 次保單檢視。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▶ Where (資金落點)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區隔高利活存池、證券交割池、不可動用緊急池，嚴禁混雜。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▶ Why (核心動機)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非追求暴富，而是建立對未來生活的自主權與心理安全感。</a:t>
            </a: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</a:defRPr>
            </a:pPr>
            <a:r>
              <a:t>▶ How (落地方法)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善用 AI 自動化分類 + 橫山光昭浪費錢包機制，兼顧人性與自律。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02 • ASSET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四層人生理財金字塔：一生適用的防禦工程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第 4 層 • 加值層 (Wealth Acceleration)   【資產占比建議：5% ~ 10%】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進階商業槓桿、包租代管、優質不動產投資（嚴控下行，絕不動用自住房產二胎借貸）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第 3 層 • 成長層 (Core Growth &amp; ETF)   【資產占比建議：30% ~ 50%】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全球廣泛型指數 ETF (0050/VT/VOO)、股債平衡配置、股息再投入、長期複利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第 2 層 • 防禦層 (Risk Transfer &amp; Insurance)   【資產占比建議：10% ~ 15%】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純保障型保險矩陣：雙實支實付醫療險、意外險、重大傷病險、長照險（轉移極端風險）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第 1 層 • 基礎層 (Liquidity &amp; Reserve Pool)   【資產占比建議：30% ~ 40%】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日常生活現金流穩定、零高利負債、鎖定 3～6 個月高流動性不可動用緊急預備金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02 • LIFE-CYCLE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生命週期財務地圖與跨階段策略切換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20 ~ 30 歲 • 築基起步期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戰略焦點：人力資本最大化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核心使命：投資本業技能躍遷、養成結構上記帳習慣。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資產配置：存滿 6 個月緊急備用金後，100% 定期定額全市場市值型 ETF。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常見陷阱：過度精緻窮、跟風當沖短線、誤信短影音虛擬幣高槓桿合約。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30 ~ 50 歲 • 責任巔峰期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戰略焦點：資產配置與防禦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核心使命：房貸、托育與雙親醫療三線並行，建立家庭防禦安全網。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資產配置：核心股債 80/20 配置，搭配足額雙實支醫療與定期壽險。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常見陷阱：單押熱門飆股、盲目跟風陌生副業投資、槓桿擴張失控。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50 歲以上 • 守成安度期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戰略焦點：本金安全與防詐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核心使命：確保可持續退休現金流、資產信託保護、不留負債給子女。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資產配置：高評級債券、優質股息 ETF，保留 12~24 個月充裕流動現金池。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致命威脅：民間高利借貸騙局、假投顧 LINE 群、房屋二胎抵押套殺陷阱。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02 • BEHAVIORAL BUDGETING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人性化記帳工程：橫山光昭「浪費錢包」機制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為何 90% 的人記帳半途而廢？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痛點 1：過度壓抑人性慾望</a:t>
            </a:r>
            <a:br/>
            <a:r>
              <a:t>將所有開支視為罪惡，長期處於匱乏感中，最終引發報復性消費與自我厭惡。</a:t>
            </a:r>
            <a:br/>
            <a:br/>
            <a:r>
              <a:t>• 痛點 2：逃避現實心理</a:t>
            </a:r>
            <a:br/>
            <a:r>
              <a:t>當某一月份支出忽然破表（如稅金、維修），因害怕看見赤字而放棄記錄。</a:t>
            </a:r>
            <a:br/>
            <a:br/>
            <a:r>
              <a:t>• 破局關鍵：誠實面對與彈性容錯</a:t>
            </a:r>
            <a:br/>
            <a:r>
              <a:t>記帳達人持續 17 年的秘訣不是克扣生活，而是『給慾望一個合法預算』。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「浪費錢包」結構化分配模型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■ 必要消費 (Needs) • 50% ~ 60%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房貸租金、基本飲食、交通通訊、水電瓦斯、純保障保費。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■ 浪費錢包 (Wants) • 10% ~ 15%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無負罪感娛樂、大餐、嗜好、犒賞自己。在此限額內請盡情花完！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■ 未來投資 (Future) • 25% ~ 35%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緊急預備金補充、全市場指數 ETF 定期定額、本業進修資本。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03 • AI FINANCIAL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賦能金融分析：Prompt Engineering 實戰庫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Prompt 01: 家庭金流黑洞診斷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分析固定/變動支出比率，計算緊急金月數，依 50/30/20 給出精確浪費錢包上限。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Prompt 02: ETF 指標交叉透視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比對 0050/0056/00919 選股邏輯、總費用率與平準金機制，破除『高配息=高獲利』迷思。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Prompt 03: 投資風險下行壓力測試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嚴格提問：『若此投資本金 100% 歸零，家庭生活會變成怎樣？』評估風險溢價合規性。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Prompt 04: 可疑話術與高利破局審查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以 CISO 邏輯審查 LINE 訊息或借貸話術，標註心理攻擊點並對照 165 資料庫輸出拒絕詞。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04 • PRODUCT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全維度金融商品識讀矩陣與迷思破解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2011680"/>
                <a:gridCol w="2560320"/>
                <a:gridCol w="3413455"/>
              </a:tblGrid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商品類別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風險等級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適合受眾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常見市場迷思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C-Level 專家本質透視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銀行定存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極低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緊急金、短期防禦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CA5A5"/>
                          </a:solidFill>
                        </a:defRPr>
                      </a:pPr>
                      <a:r>
                        <a:t>利息太低沒用？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提供 100% 流動性與抗跌安全，非追求資產暴增。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純保障型保險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家庭支柱、風險轉移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CA5A5"/>
                          </a:solidFill>
                        </a:defRPr>
                      </a:pPr>
                      <a:r>
                        <a:t>買保險等於投資理財？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保險是防禦成本而非投資，切勿買高保費低保障商品。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廣泛指數 ETF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長期指數化投資人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CA5A5"/>
                          </a:solidFill>
                        </a:defRPr>
                      </a:pPr>
                      <a:r>
                        <a:t>高配息率等於高總報酬率？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配息是本金撥出，總報酬率(資本利得+股息再投入)才是核心。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個別股票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具備深入產業研究者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CA5A5"/>
                          </a:solidFill>
                        </a:defRPr>
                      </a:pPr>
                      <a:r>
                        <a:t>聽投顧老師/內線就能賺？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單一公司具破產風險，散戶在算力與資訊上完全落後法人。</a:t>
                      </a:r>
                    </a:p>
                  </a:txBody>
                  <a:tcPr>
                    <a:solidFill>
                      <a:srgbClr val="121C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</a:defRPr>
                      </a:pPr>
                      <a:r>
                        <a:t>民間借貸/高利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極高(詐騙高危)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嚴禁參與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CA5A5"/>
                          </a:solidFill>
                        </a:defRPr>
                      </a:pPr>
                      <a:r>
                        <a:t>農會主管擔保穩拿15%年息？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龐氏騙局！你看中他的利息，他看中你的本金與房產。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04 • COGNITIVE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認知偏誤防禦：建立資訊識讀五大工程協議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05740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協議 01: 承認盲點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建立「我可能會看錯」的心態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人皆有認知偏誤。面對高誘惑投資先說一句：「也有可能不是這樣」。覺察盲點比自命正確更重要。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205740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協議 02: 事實與意見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嚴格區分「Fact vs. Opinion」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「這支必漲」是主觀意見；「該公司營收年減15%」是客觀事實。事實可被驗證，意見需要嚴謹辯論。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463040"/>
            <a:ext cx="205740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1224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協議 03: 信源利益溯源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檢驗「誰在說？利益動機何在？」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資訊本身無立場，但來源有。查核：對方賺的是佣金、流量還是學費？是否具備金管會合法特許執照？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463040"/>
            <a:ext cx="205740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協議 04: 破除單一敘事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主動尋求多維反方視角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主動尋找 2~3 種截然相反的論點（如看空報告、競業威脅），打破社群演算法造成的資訊同溫層。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463040"/>
            <a:ext cx="205740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645920"/>
            <a:ext cx="1783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協議 05: 延遲判斷機制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強制設定 24~48h 決策冷卻期</a:t>
            </a:r>
          </a:p>
          <a:p>
            <a:pPr>
              <a:spcBef>
                <a:spcPts val="1000"/>
              </a:spcBef>
              <a:defRPr sz="950">
                <a:solidFill>
                  <a:srgbClr val="94A3B8"/>
                </a:solidFill>
              </a:defRPr>
            </a:pPr>
            <a:r>
              <a:t>社群刻意製造『名額有限、倒數計時』恐慌感。落實冷卻期：不立即轉帳、不當場簽約、不衝動分享。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05 • FRAUD THREAT 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警政署 165 數據透視與新型態詐騙攻防架構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165 打詐儀表板最新威脅趨勢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🚨 假投資/假APP (財損第 1 名)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利用社群投放高報酬廣告，引導進入假交易所/外匯平台，前期小額出金誘敵，後期凍結本金。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🚨 AI 深偽 (Deepfake) 換臉/語音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仿冒親友聲紋或高階主管視訊，營造海外車禍或緊急周轉假象，阻斷被害人求證心理。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🚨 假檢警/假公務機關託管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以洗錢、個資外洩恐嚇長輩，要求將房產辦理借貸或將資金交由特偵專員『監管』。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🚨 假交友殺豬盤 (Romance Scam)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長期虛構溫情關係，逐步誘導至非監管虛擬貨幣平台進行槓桿跟單交易。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詐騙集團四大社交工程攻擊鏈</a:t>
            </a:r>
          </a:p>
          <a:p>
            <a:pPr>
              <a:spcBef>
                <a:spcPts val="600"/>
              </a:spcBef>
              <a:defRPr sz="1050" b="1">
                <a:solidFill>
                  <a:srgbClr val="EA580C"/>
                </a:solidFill>
              </a:defRPr>
            </a:pPr>
            <a:r>
              <a:t>▶ 第 1 階段：接觸建立信任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透過 Facebook/LINE 廣告、假名人帳號、假冒校友/同鄉連結社群。</a:t>
            </a:r>
          </a:p>
          <a:p>
            <a:pPr>
              <a:spcBef>
                <a:spcPts val="600"/>
              </a:spcBef>
              <a:defRPr sz="1050" b="1">
                <a:solidFill>
                  <a:srgbClr val="EA580C"/>
                </a:solidFill>
              </a:defRPr>
            </a:pPr>
            <a:r>
              <a:t>▶ 第 2 階段：製造暴富幻覺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群組暗樁偽造獲利截圖，前期給予 10%~15% 小額真金出金消除戒心。</a:t>
            </a:r>
          </a:p>
          <a:p>
            <a:pPr>
              <a:spcBef>
                <a:spcPts val="600"/>
              </a:spcBef>
              <a:defRPr sz="1050" b="1">
                <a:solidFill>
                  <a:srgbClr val="EA580C"/>
                </a:solidFill>
              </a:defRPr>
            </a:pPr>
            <a:r>
              <a:t>▶ 第 3 階段：槓桿加碼套殺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鼓吹抵押自住房產辦理二胎貸款，或投入畢生退休金擴大本金規模。</a:t>
            </a:r>
          </a:p>
          <a:p>
            <a:pPr>
              <a:spcBef>
                <a:spcPts val="600"/>
              </a:spcBef>
              <a:defRPr sz="1050" b="1">
                <a:solidFill>
                  <a:srgbClr val="EA580C"/>
                </a:solidFill>
              </a:defRPr>
            </a:pPr>
            <a:r>
              <a:t>▶ 第 4 階段：斷聯與二次榨取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以保證金、解凍費、稅金為由拒絕出金，榨乾最後一分錢後徹底失聯。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05 •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深度案例解構：七千萬房產老人二胎借貸套殺案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【案情真實還原】「我不是想發財，我只是想安心退休」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當事人背景：七十多歲婦人，名下擁有市值約 5,000 萬無貸款優質房產，每月生活支出 15~20 萬，擔憂退休金不足拖累子女。</a:t>
            </a:r>
            <a:br/>
            <a:r>
              <a:t>• 誘惑開端：朋友介紹「民間借貸固定配息方案」，宣稱由農會主管親自背書、年息高達 15% 穩定發放。婦人先將 1,000 萬現金投入。</a:t>
            </a:r>
            <a:br/>
            <a:r>
              <a:t>• 槓桿套殺：嘗到前期利息甜頭後，在對方鼓吹下將名下 5,000 萬房產辦理 1,500 萬二胎房貸全數加碼。3年後負責人捲款失聯。</a:t>
            </a:r>
            <a:br/>
            <a:r>
              <a:t>• 慘痛結局：1,000 萬存款血本無歸，名下房產背負 1,500 萬高額房貸利息，七千萬資產面臨查封拍賣，嚴重拖垮下一代。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【CISO / 財務架構師系統性阻斷分析】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❌ 致命盲點 1：盲信 15% 龐氏利息。無視無風險利率僅約 1.5%~2%，15% 必然隱藏本金全損風險。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❌ 致命盲點 2：以無風險自住房產作高風險二胎槓桿抵押，直接擊穿家庭底層安全防禦網。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🛡️ 正確解法：高齡族群若需現金流，應採公股銀行正規「以房養老」或「安養信託」，資產完全隔離且終身受保護。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05 •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S-T-O-P 金融安全阻斷通訊協定與情境演練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6032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 - STOP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先不要匯款！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立即中斷所有即時轉帳、提款與簽約操作。冷靜脫離詐騙話術催促的情緒場域。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 - THINK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是不是太好賺？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回到理性金融定價：天下沒有保證獲利，超額收益背後必然是對準你本金的陷阱。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 - OBSERVE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查證真實來源！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核對金管會執照、台灣事實查核中心、查詢 165 反詐資料庫有無相同手法。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 - PROTECT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跨網多方求證！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撥打 165 反詐專線、向銀行臨櫃行員諮詢、與核心家人或第三方專家對話。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🎯 實戰情境演練：遇到以下狀況如何啟動 STOP 協議？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• 情境 A：LINE 飆股助理宣稱 VIP 名額保證獲利 30% ➔ 【處置：絕不點擊下載非官方交易 APP，立即封鎖退群並向 165 檢舉。】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• 情境 B：海外子女突發視訊借款 50 萬應急 ➔ 【處置：掛斷電話，直接撥打子女舊有手機或駐外單位核對「家庭通關密碼」。】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• 情境 C：朋友推薦年息 12% 民間抵押標會借貸 ➔ 【處置：提問「若本金 100% 虧損我能否承受？」嚴格拒絕自住房產抵押。】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MODULE 05 • ZERO-TRUST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個人與家庭「零信任」金融安全承諾清單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☑ 承諾 1：絕不加入任何陌生 LINE 投資群組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不聽信未經認證的投顧老師、分析師明牌或飆股內線，徹底杜絕社交工程源頭。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☑ 承諾 2：絕不相信「保證獲利」與「無風險高回報」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牢記高報酬必然伴隨高下行風險。凡承諾年息高於銀行 3 倍者一律視為龐氏騙局。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28416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☑ 承諾 3：絕不下載陌生連結提供之非官方交易 APP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所有證券/ETF 投資一律透過金管會監管之特許金融機構官方通道進行。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1104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☑ 承諾 4：單筆非日常支出逾 5 萬元必經 24 小時冷卻期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杜絕衝動決策，強制設定冷卻時間，並與核心家庭成員或第三方專業顧問討論。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93792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☑ 承諾 5：重大投資前必做下行壓力測試問卷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「如果這項投資徹底失敗（本金100%歸零），我的生活和家人會變成什麼樣子？」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EXECUTION FRAMEWORK • AUDIT SOP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標準化家庭財務月報 / 季報自我審計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一、現金流入面 (Inflow)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主業薪資與專業顧問收入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廣泛指數 ETF 定期配息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存款利息與副業收入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▶ 目標：多元化非工資流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二、支出分流面 (Outflow)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固定必要：房貸/保險/稅務 (50%)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生活變動：餐飲/交通/水電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浪費錢包：限額犒賞 (10~15%)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▶ 目標：每月結餘率 &gt;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三、資產負債淨值 (Balance)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緊急預備金池 (高利活存 6M)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核心成長池 (市值型 ETF)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自住房產淨值估算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▶ 負債審計：房貸利率與本金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2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四、安全防護審計 (Security)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雙實支與重大傷病保額足夠性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是否誤信高利或陌生群組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家庭通關密碼定期更新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▶ 目標：零信任防詐安全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EXECUTION FRAMEWORK • BEHAVIORAL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行為改變五部曲與家庭財務長效落地方案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第 1 階段 • 認識 (Data) ➔ 【客觀收集金流】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記錄每筆真實花費，不帶批判情緒，找出潛在金錢黑洞與非必要開銷。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第 2 階段 • 意識 (Awareness) ➔ 【釐清核心問題】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體認通膨與老後醫療的真實代價，看見過度依賴單一收入的脆弱性。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28416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第 3 階段 • 覺悟 (Mindset) ➔ 【建立必改理由】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痛定思痛設定防火牆：不再盲從高利投機，接納「我可能會看錯」的心態。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1104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第 4 階段 • 行動 (Action) ➔ 【執行處遇計畫】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落實 50/30/20 浪費錢包、開立專屬緊急備用金帳戶、定期定額指數 ETF。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93792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第 5 階段 • 韌性 (Habit) ➔ 【回饋追蹤迭代】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全家每月檢視財務月報，跨世代共建防詐守護網，享受掌控生活的從容。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CONCLUSION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結語：理財是為生活賦權，認知是最後的護城河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AI 時代的智慧財務分析、認知防禦與全維度金融防詐工程論  |  報告人：Howard Liao Ph.D. (廖倫豪 博士)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「理財不是為了變成暴富的神話，而是讓我們在未來擁有選擇的尊嚴。」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• AI 是最強大的副駕駛：它能幫你理清數據、診斷黑洞、過濾噪音，但責任邊界與方向盤始終在自己手中。</a:t>
            </a:r>
            <a:br/>
            <a:r>
              <a:t>• 認知的深度決定資產的厚度：守住「我可能會看錯」的謙卑，用 24 小時延遲判斷阻斷詐騙貪婪的攻勢。</a:t>
            </a:r>
            <a:br/>
            <a:r>
              <a:t>• 人生理財的終極目標：錢夠用、錢安心用，在不確定的時代建構全家人的幸福與安穩。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38BDF8"/>
                </a:solidFill>
              </a:defRPr>
            </a:pPr>
            <a:r>
              <a:t>感謝各位聆聽  •  Open for Discussion &amp; Questions</a:t>
            </a:r>
          </a:p>
          <a:p>
            <a:pPr algn="ctr"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報告人：Howard Liao Ph.D. (廖倫豪 博士)  |  liao.howard@gmail.com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